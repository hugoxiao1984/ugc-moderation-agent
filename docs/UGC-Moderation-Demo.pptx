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7AA2F7">
              <a:alpha val="15000"/>
            </a:srgbClr>
          </a:solidFill>
          <a:ln w="12700">
            <a:solidFill>
              <a:srgbClr val="7AA2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9695" y="2286000"/>
            <a:ext cx="8229600" cy="8229600"/>
          </a:xfrm>
          <a:prstGeom prst="ellipse">
            <a:avLst/>
          </a:prstGeom>
          <a:solidFill>
            <a:srgbClr val="BB9AF7">
              <a:alpha val="10000"/>
            </a:srgbClr>
          </a:solidFill>
          <a:ln w="12700">
            <a:solidFill>
              <a:srgbClr val="BB9AF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Moderation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 UGC 智能审核大脑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3200400" cy="36576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663440"/>
            <a:ext cx="932688" cy="320040"/>
          </a:xfrm>
          <a:prstGeom prst="roundRect">
            <a:avLst>
              <a:gd name="adj" fmla="val 22857"/>
            </a:avLst>
          </a:prstGeom>
          <a:solidFill>
            <a:srgbClr val="2F334D"/>
          </a:solidFill>
          <a:ln w="6350">
            <a:solidFill>
              <a:srgbClr val="7AA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6344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图文审核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01368" y="46634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E3A2D"/>
          </a:solidFill>
          <a:ln w="6350">
            <a:solidFill>
              <a:srgbClr val="9EC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1368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短视频审核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35808" y="466344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3D2F15"/>
          </a:solidFill>
          <a:ln w="6350">
            <a:solidFill>
              <a:srgbClr val="E0AF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46634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多法域自适应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46634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2F1F3D"/>
          </a:solidFill>
          <a:ln w="6350">
            <a:solidFill>
              <a:srgbClr val="BB9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9A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可解释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46634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2F334D"/>
          </a:solidFill>
          <a:ln w="6350">
            <a:solidFill>
              <a:srgbClr val="7AA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会学习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Hugo Xiao  ·  2026-05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为什么要做这件事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从「规则引擎」到「智能审核大脑」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传统审核的痛点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规则引擎：改一条规则要改代码 + 回归 + 发版（1-2 周）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误判只能调全局阈值，伤及无辜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只给 label + confidence，运营看不懂、讲不清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多法域要多套代码，维护爆炸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同进程审核，合规审计难过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我们的破局点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自编排：智能体根据上下文动态决策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大模型自解释：生成可给运营看的中文理由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记忆自进化：一次误判反馈，全网持续受益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法域热切换：改 .py 即生效，无需重部署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microVM 隔离：每次审核独立安全沙箱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为什么选 Agentic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不是把审核外包给 LLM，而是让系统具备三种智能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532120" cy="20574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2057400"/>
          </a:xfrm>
          <a:prstGeom prst="rect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运行时编排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不再写死 if-else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Orchestrator 根据模态、先验风险、Memory 召回实时决定走哪条路径；新增信号源只需加一个 @tool，无需改编排代码。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532120" cy="20574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737360"/>
            <a:ext cx="73152" cy="2057400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可解释输出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3957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从「数字」到「理由」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7889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大模型产出中文理由 + flag + tags，运营看得懂、客户可审计，满足 GDPR/DSA 透明度要求。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532120" cy="20574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73152" cy="2057400"/>
          </a:xfrm>
          <a:prstGeom prst="rect">
            <a:avLst/>
          </a:prstGeom>
          <a:solidFill>
            <a:srgbClr val="E0AF68"/>
          </a:solidFill>
          <a:ln w="12700">
            <a:solidFill>
              <a:srgbClr val="E0AF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自然语言工具扩展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5902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一小时接一个外部系统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客户内部 API → @tool + docstring，Agent 自动学会什么时候调。从「集成」到「赋能」。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532120" cy="20574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931920"/>
            <a:ext cx="73152" cy="2057400"/>
          </a:xfrm>
          <a:prstGeom prst="rect">
            <a:avLst/>
          </a:prstGeom>
          <a:solidFill>
            <a:srgbClr val="BB9AF7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1148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9A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会学习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45902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983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一次误判反馈 → 语义召回 → 下次相似内容自动调阈值，按内容粒度自适应，不是全局伤及无辜。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solidFill>
            <a:srgbClr val="2F334D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传统规则引擎是</a:t>
            </a:r>
            <a:pPr algn="ctr" indent="0" marL="0">
              <a:buNone/>
            </a:pPr>
            <a:r>
              <a:rPr lang="en-US" sz="1400" b="1" i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「执行工具」</a:t>
            </a:r>
            <a:pPr algn="ctr" indent="0" marL="0">
              <a:buNone/>
            </a:pPr>
            <a:r>
              <a:rPr lang="en-US" sz="14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，Agentic 系统是</a:t>
            </a:r>
            <a:pPr algn="ctr" indent="0" marL="0">
              <a:buNone/>
            </a:pPr>
            <a:r>
              <a:rPr lang="en-US" sz="1400" b="1" i="1" dirty="0">
                <a:solidFill>
                  <a:srgbClr val="BB9A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「会成长的审核助理」</a:t>
            </a:r>
            <a:pPr algn="ctr" indent="0" marL="0">
              <a:buNone/>
            </a:pPr>
            <a:r>
              <a:rPr lang="en-US" sz="14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的坑 &amp; 我们如何规避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客户最担心的 5 个问题，我们都有工程级答案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15568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延迟不可控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四层漏斗 + 模型分级：Haiku 跑快筛 / Sonnet 只跑决策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0412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~22s 均值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15568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97480"/>
            <a:ext cx="73152" cy="777240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97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成本不可控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 内容压根不走大模型，快筛直接放行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04120" y="26974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$0.011 / 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115568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66160"/>
            <a:ext cx="73152" cy="777240"/>
          </a:xfrm>
          <a:prstGeom prst="rect">
            <a:avLst/>
          </a:prstGeom>
          <a:solidFill>
            <a:srgbClr val="E0AF68"/>
          </a:solidFill>
          <a:ln w="12700">
            <a:solidFill>
              <a:srgbClr val="E0AF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66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输出不稳定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5661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Pydantic schema + fallback：无合法 JSON 回退策略脚本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04120" y="3566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100% 可解析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15568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34840"/>
            <a:ext cx="73152" cy="777240"/>
          </a:xfrm>
          <a:prstGeom prst="rect">
            <a:avLst/>
          </a:prstGeom>
          <a:solidFill>
            <a:srgbClr val="F7768E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34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幻觉风险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0" y="44348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关键裁决走确定性策略脚本，LLM 只负责合成理由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0412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76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规则确定性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115568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303520"/>
            <a:ext cx="73152" cy="777240"/>
          </a:xfrm>
          <a:prstGeom prst="rect">
            <a:avLst/>
          </a:prstGeom>
          <a:solidFill>
            <a:srgbClr val="BB9AF7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03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B9A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难调试 / 不可观测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53035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每层独立 span/trace，前端实时可视化流程图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104120" y="5303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B9A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全链路可见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核心原则：让大模型做它擅长的（推理、解释、判断边界），让确定性代码做它擅长的（执行、一致、可审计）。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核心能力一览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六大维度重定义 UGC 审核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532120" cy="13716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371600"/>
          </a:xfrm>
          <a:prstGeom prst="rect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6596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四层自适应审核漏斗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 低风险内容在早期止步，成本降一个数量级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532120" cy="13716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828800"/>
            <a:ext cx="73152" cy="1371600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96596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法域原生分治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24231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 / EU / US 策略独立热更新，同图一键出差异化裁决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532120" cy="13716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37560"/>
            <a:ext cx="73152" cy="1371600"/>
          </a:xfrm>
          <a:prstGeom prst="rect">
            <a:avLst/>
          </a:prstGeom>
          <a:solidFill>
            <a:srgbClr val="E0AF68"/>
          </a:solidFill>
          <a:ln w="12700">
            <a:solidFill>
              <a:srgbClr val="E0A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4747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分级违规体系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4672" y="393192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allow/deny/review 之上叠加 7 级 flag + 细粒度 tags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337560"/>
            <a:ext cx="5532120" cy="13716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337560"/>
            <a:ext cx="73152" cy="1371600"/>
          </a:xfrm>
          <a:prstGeom prst="rect">
            <a:avLst/>
          </a:prstGeom>
          <a:solidFill>
            <a:srgbClr val="F7768E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4747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短视频秒级短路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28232" y="393192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命中首个高风险帧即整段短路，大模型解读是什么+为什么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3716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46320"/>
            <a:ext cx="73152" cy="1371600"/>
          </a:xfrm>
          <a:prstGeom prst="rect">
            <a:avLst/>
          </a:prstGeom>
          <a:solidFill>
            <a:srgbClr val="BB9AF7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9834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B9A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记忆驱动自进化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04672" y="544068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运营一次标注，下次相似内容自动调阈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846320"/>
            <a:ext cx="5532120" cy="13716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846320"/>
            <a:ext cx="73152" cy="1371600"/>
          </a:xfrm>
          <a:prstGeom prst="rect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9834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会话级合规隔离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28232" y="544068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每次审核独立 Firecracker microVM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1 · 单图智能审核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自编排 + 大模型自解释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业务逻辑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用户上传图片到 S3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根据先验风险选快/慢路径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Rekognition 快筛 → 低风险直接通过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高风险升级 Nova Pro 深度理解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25780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大模型合成中文理由 + flag + tags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展示亮点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右侧流程图实时高亮走过节点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报告内容：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决策（allow / deny / human_review）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flag 等级（999 / 998 / 997 / 200 / 100 / 1 / 2）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业务 tags（色情 / 武器 / 未成年 / 吸烟 …）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2-4 句中文理由（Sonnet 合成）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Memory 召回记录（阈值调整依据）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2 · 同图三法域对比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一张图，三个结论 — 差异来自代码，而非模型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749040" cy="27432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🇨🇳  CN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Suggestive 阈值: 55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76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涉政红线 + 未成年保护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749040" cy="27432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🇪🇺  EU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Suggestive 阈值: 75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108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DSA 透明度 + GDPR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920240"/>
            <a:ext cx="3749040" cy="274320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🇺🇸  US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6868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Suggestive 阈值: 90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3108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COPPA + 言论宽松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155680" cy="146304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技术关键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上游共享：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Rekognition / Nova / TextGuard 只跑一次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分叉决策层：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个法域并行调各自的 .py 策略脚本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法域总耗时 ≈ 1 法域的 1.1 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3 · 记忆闭环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从「执行工具」到「成长伙伴」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749040" cy="2103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2103120"/>
          </a:xfrm>
          <a:prstGeom prst="rect">
            <a:avLst/>
          </a:prstGeom>
          <a:solidFill>
            <a:srgbClr val="F7768E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上传边缘图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 deny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4325112" y="2807208"/>
            <a:ext cx="219456" cy="329184"/>
          </a:xfrm>
          <a:prstGeom prst="rtTriangle">
            <a:avLst/>
          </a:prstGeom>
          <a:solidFill>
            <a:srgbClr val="3B4261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20240"/>
            <a:ext cx="3749040" cy="2103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920240"/>
            <a:ext cx="73152" cy="2103120"/>
          </a:xfrm>
          <a:prstGeom prst="rect">
            <a:avLst/>
          </a:prstGeom>
          <a:solidFill>
            <a:srgbClr val="E0AF68"/>
          </a:solidFill>
          <a:ln w="12700">
            <a:solidFill>
              <a:srgbClr val="E0AF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点「标记误判」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36592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 AgentCore Memory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257032" y="2807208"/>
            <a:ext cx="219456" cy="329184"/>
          </a:xfrm>
          <a:prstGeom prst="rtTriangle">
            <a:avLst/>
          </a:prstGeom>
          <a:solidFill>
            <a:srgbClr val="3B4261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920240"/>
            <a:ext cx="3749040" cy="2103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20240"/>
            <a:ext cx="73152" cy="2103120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再次上传相似图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68512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召回 1 条历史 · 阈值 75 → 85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155680" cy="1828800"/>
          </a:xfrm>
          <a:prstGeom prst="rect">
            <a:avLst/>
          </a:prstGeom>
          <a:solidFill>
            <a:srgbClr val="2F334D"/>
          </a:solidFill>
          <a:ln w="25400">
            <a:solidFill>
              <a:srgbClr val="BB9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26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B9A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“Agent 自己学会了我们业务的偏好”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不是运营手动调全局阈值，而是</a:t>
            </a:r>
            <a:pPr indent="0" marL="0">
              <a:buNone/>
            </a:pPr>
            <a:r>
              <a:rPr lang="en-US" sz="1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按内容语义粒度自适应</a:t>
            </a:r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。一次标注 → 永久受益 → 全租户隔离。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AI 从「执行工具」到「成长伙伴」的范式跃迁。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4 · 批量审核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规模化场景的成本可视化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业务逻辑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 10 张图，并行审核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表格实时显示每张：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 徽章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Flag 分级 + Tags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中文理由摘要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是否升级深度审核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成本可视化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743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-70%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64465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对比「全部走 Nova」的成本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754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张图中只有 ~3 张升级 Nova Pro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适用场景：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商品图审核    • UGC 发布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直播截图      • 社区头像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5 · 短视频审核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命中即短路 + 大模型解读违规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业务逻辑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用户上传短视频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后端抽关键帧 → 批量并发入图像管线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命中首个高风险帧即整段短路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大模型对违规帧输出「画面+原因」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257800"/>
            <a:ext cx="320040" cy="32004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聚合关键帧生成视频主题摘要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展示亮点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进度条 + 每阶段实时反馈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🎬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视频理解卡片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主题短语（如「户外徒步」）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画面整体概述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如有违规：明确解读违规时刻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🚫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违规帧列表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只列命中帧，不刷屏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四层自适应漏斗 + AgentCore 原生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103120" cy="713232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" cy="713232"/>
          </a:xfrm>
          <a:prstGeom prst="rect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上传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用户/系统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2185416"/>
            <a:ext cx="548640" cy="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828800"/>
            <a:ext cx="2286000" cy="713232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828800"/>
            <a:ext cx="54864" cy="713232"/>
          </a:xfrm>
          <a:prstGeom prst="rect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01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MCP 协议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185416"/>
            <a:ext cx="548640" cy="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2560320" cy="713232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54864" cy="713232"/>
          </a:xfrm>
          <a:prstGeom prst="rect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01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Runtime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Firecracker microVM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2578608"/>
            <a:ext cx="0" cy="301752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0" y="2926080"/>
            <a:ext cx="393192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E0AF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2926080"/>
            <a:ext cx="54864" cy="777240"/>
          </a:xfrm>
          <a:prstGeom prst="rect">
            <a:avLst/>
          </a:prstGeom>
          <a:solidFill>
            <a:srgbClr val="E0AF68"/>
          </a:solidFill>
          <a:ln w="12700">
            <a:solidFill>
              <a:srgbClr val="E0AF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999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模态 · 法域 · Memory 召回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749040"/>
            <a:ext cx="0" cy="27432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80760" y="3749040"/>
            <a:ext cx="0" cy="27432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0" y="3749040"/>
            <a:ext cx="0" cy="27432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920240" y="3749040"/>
            <a:ext cx="8229600" cy="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69080"/>
            <a:ext cx="274320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69080"/>
            <a:ext cx="54864" cy="777240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142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快筛 Rekognition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489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100% · 秒级返回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4069080"/>
            <a:ext cx="274320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069080"/>
            <a:ext cx="54864" cy="777240"/>
          </a:xfrm>
          <a:prstGeom prst="rect">
            <a:avLst/>
          </a:prstGeom>
          <a:solidFill>
            <a:srgbClr val="BB9AF7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142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9A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 Nova Pro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489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边缘+高风险 (~20%)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0" y="4069080"/>
            <a:ext cx="2926080" cy="77724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4069080"/>
            <a:ext cx="54864" cy="777240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4142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文本护栏 Guardrail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69680" y="4489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并行不阻塞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20240" y="4846320"/>
            <a:ext cx="0" cy="27432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4846320"/>
            <a:ext cx="0" cy="27432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58400" y="4846320"/>
            <a:ext cx="0" cy="27432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0240" y="5120640"/>
            <a:ext cx="8138160" cy="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5120640"/>
            <a:ext cx="0" cy="274320"/>
          </a:xfrm>
          <a:prstGeom prst="line">
            <a:avLst/>
          </a:prstGeom>
          <a:noFill/>
          <a:ln w="19050">
            <a:solidFill>
              <a:srgbClr val="7982A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840480" y="5440680"/>
            <a:ext cx="4480560" cy="822960"/>
          </a:xfrm>
          <a:prstGeom prst="rect">
            <a:avLst/>
          </a:prstGeom>
          <a:solidFill>
            <a:srgbClr val="24283B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5440680"/>
            <a:ext cx="54864" cy="822960"/>
          </a:xfrm>
          <a:prstGeom prst="rect">
            <a:avLst/>
          </a:prstGeom>
          <a:solidFill>
            <a:srgbClr val="F7768E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55138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 Agent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023360" y="5861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 Interpreter → cn/eu/us.py · flag + tags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技术核心 1 · 四层自适应漏斗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为什么低风险内容不跑 Nova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漏斗设计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Orchestrator：读 Memory 调整有效阈值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Rekognition：100% 跑，秒级返回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Nova Pro：只在边缘+高风险才触发（~20%）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文本护栏：并行，不阻塞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 Agent：AND-gate 汇合所有信号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为什么这么设计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延迟分层：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大多数图在第 1 层就止步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成本分层：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 20% 的图跑最贵的模型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失败隔离：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某层超时/异常不拖垮整体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可观测：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每层独立 span / trace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结果：平均单图成本下降 50%+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技术核心 2 · 法域热执行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改规则即生效，无需重新部署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文件布局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policies_scripts/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├── common.py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│      # PolicyResult dataclass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├── cn.py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│      # 涉政红线 + 未成年保护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├── eu.py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│      # DSA 透明度 + GDPR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└── us.py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# COPPA + 言论宽松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9377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统一签名：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evaluate(signals: dict) -&gt; PolicyResult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执行机制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6517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Code Interpreter microVM 热执行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每次把 .py 源码 + signals 注入沙盒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JSON，Agent 解析后进入决策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改规则：改 .py → 立即生效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无需重新部署、无需回归测试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solidFill>
            <a:srgbClr val="2F334D"/>
          </a:solidFill>
          <a:ln w="25400">
            <a:solidFill>
              <a:srgbClr val="E0AF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客户价值：新法规上线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5394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1-2 周  →  小时级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技术核心 3 · 分级违规体系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flag + tags 驱动运营分诊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1155680" cy="502920"/>
          </a:xfrm>
          <a:prstGeom prst="rect">
            <a:avLst/>
          </a:prstGeom>
          <a:solidFill>
            <a:srgbClr val="2F334D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 Tags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15568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999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最严重违规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76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423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色情 / 血腥暴力 / 引导广告 / 未成年涉风险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998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次严重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76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武器 / 毒品 / 恐怖 / 冒犯宗教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115568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997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文化冒犯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human_review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3429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宗教敏感 / 种姓 / 政治 / 性话题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3931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疑似未成年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human_review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39319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15-18 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15568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434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45920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普通违规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023360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human_review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52160" y="44348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吸烟 / 饮酒 / 诋毁 / 脏话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937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592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23360" y="4937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52160" y="49377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非色情性感动作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440680"/>
            <a:ext cx="1115568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440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4592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不可辨识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023360" y="5440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52160" y="5440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大模型强制保证 flag 与 decision 一致，并给 1-4 个业务 tags。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技术核心 4 · 短视频抽帧与短路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AgentCore 原生 · 无需自建容器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抽帧链路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137160" cy="137160"/>
          </a:xfrm>
          <a:prstGeom prst="ellipse">
            <a:avLst/>
          </a:prstGeom>
          <a:solidFill>
            <a:srgbClr val="7AA2F7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2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视频上传 → S3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34640"/>
            <a:ext cx="0" cy="182880"/>
          </a:xfrm>
          <a:prstGeom prst="line">
            <a:avLst/>
          </a:prstGeom>
          <a:noFill/>
          <a:ln w="12700">
            <a:solidFill>
              <a:srgbClr val="3B4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108960"/>
            <a:ext cx="137160" cy="137160"/>
          </a:xfrm>
          <a:prstGeom prst="ellipse">
            <a:avLst/>
          </a:prstGeom>
          <a:solidFill>
            <a:srgbClr val="A9B1D6"/>
          </a:solidFill>
          <a:ln w="12700">
            <a:solidFill>
              <a:srgbClr val="A9B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S3 GetObject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3246120"/>
            <a:ext cx="0" cy="182880"/>
          </a:xfrm>
          <a:prstGeom prst="line">
            <a:avLst/>
          </a:prstGeom>
          <a:noFill/>
          <a:ln w="12700">
            <a:solidFill>
              <a:srgbClr val="3B4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20440"/>
            <a:ext cx="137160" cy="137160"/>
          </a:xfrm>
          <a:prstGeom prst="ellipse">
            <a:avLst/>
          </a:prstGeom>
          <a:solidFill>
            <a:srgbClr val="BB9AF7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9A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 Interpreter microVM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2688" y="3657600"/>
            <a:ext cx="0" cy="182880"/>
          </a:xfrm>
          <a:prstGeom prst="line">
            <a:avLst/>
          </a:prstGeom>
          <a:noFill/>
          <a:ln w="12700">
            <a:solidFill>
              <a:srgbClr val="3B4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31920"/>
            <a:ext cx="137160" cy="137160"/>
          </a:xfrm>
          <a:prstGeom prst="ellipse">
            <a:avLst/>
          </a:prstGeom>
          <a:solidFill>
            <a:srgbClr val="A9B1D6"/>
          </a:solidFill>
          <a:ln w="12700">
            <a:solidFill>
              <a:srgbClr val="A9B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pip install imageio-ffmpeg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" y="4069080"/>
            <a:ext cx="0" cy="182880"/>
          </a:xfrm>
          <a:prstGeom prst="line">
            <a:avLst/>
          </a:prstGeom>
          <a:noFill/>
          <a:ln w="12700">
            <a:solidFill>
              <a:srgbClr val="3B4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43400"/>
            <a:ext cx="137160" cy="137160"/>
          </a:xfrm>
          <a:prstGeom prst="ellipse">
            <a:avLst/>
          </a:prstGeom>
          <a:solidFill>
            <a:srgbClr val="A9B1D6"/>
          </a:solidFill>
          <a:ln w="12700">
            <a:solidFill>
              <a:srgbClr val="A9B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ffmpeg -vf fps=1 抽帧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" y="4480560"/>
            <a:ext cx="0" cy="182880"/>
          </a:xfrm>
          <a:prstGeom prst="line">
            <a:avLst/>
          </a:prstGeom>
          <a:noFill/>
          <a:ln w="12700">
            <a:solidFill>
              <a:srgbClr val="3B4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754880"/>
            <a:ext cx="137160" cy="137160"/>
          </a:xfrm>
          <a:prstGeom prst="ellipse">
            <a:avLst/>
          </a:prstGeom>
          <a:solidFill>
            <a:srgbClr val="A9B1D6"/>
          </a:solidFill>
          <a:ln w="12700">
            <a:solidFill>
              <a:srgbClr val="A9B1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download_files 取回 JPEG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" y="4892040"/>
            <a:ext cx="0" cy="182880"/>
          </a:xfrm>
          <a:prstGeom prst="line">
            <a:avLst/>
          </a:prstGeom>
          <a:noFill/>
          <a:ln w="12700">
            <a:solidFill>
              <a:srgbClr val="3B4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166360"/>
            <a:ext cx="137160" cy="137160"/>
          </a:xfrm>
          <a:prstGeom prst="ellipse">
            <a:avLst/>
          </a:prstGeom>
          <a:solidFill>
            <a:srgbClr val="A9B1D6"/>
          </a:solidFill>
          <a:ln w="12700">
            <a:solidFill>
              <a:srgbClr val="A9B1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上传所有帧到 S3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2688" y="5303520"/>
            <a:ext cx="0" cy="182880"/>
          </a:xfrm>
          <a:prstGeom prst="line">
            <a:avLst/>
          </a:prstGeom>
          <a:noFill/>
          <a:ln w="12700">
            <a:solidFill>
              <a:srgbClr val="3B4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5577840"/>
            <a:ext cx="137160" cy="137160"/>
          </a:xfrm>
          <a:prstGeom prst="ellipse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486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batch=5 并发 → 图像管线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短路 + 解读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46520" y="26517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任一帧 decision=deny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整段 deny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7768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Rekognition 高风险 ≥ 90%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整段 deny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命中后：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违规帧单独再跑一次 Nova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输出「画面内容：XXX。违规原因：XXX」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聚合关键帧生成视频主题摘要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5303520"/>
            <a:ext cx="5029200" cy="914400"/>
          </a:xfrm>
          <a:prstGeom prst="rect">
            <a:avLst/>
          </a:prstGeom>
          <a:solidFill>
            <a:srgbClr val="2F334D"/>
          </a:solidFill>
          <a:ln w="25400">
            <a:solidFill>
              <a:srgbClr val="9ECE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全程在 AgentCore 生态内完成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5715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无需自建容器 · 无需 Lambda Layer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关键数据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 + 成本实测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" cy="32004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5029200" cy="502920"/>
          </a:xfrm>
          <a:prstGeom prst="rect">
            <a:avLst/>
          </a:prstGeom>
          <a:solidFill>
            <a:srgbClr val="2F334D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单图低风险（快筛通过）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08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~10s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502920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单图高风险（Nova+Sonnet）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~22s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840480"/>
            <a:ext cx="5029200" cy="502920"/>
          </a:xfrm>
          <a:prstGeom prst="rect">
            <a:avLst/>
          </a:prstGeom>
          <a:solidFill>
            <a:srgbClr val="2F334D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同图 3 法域（共享上游）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~25s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502920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30s 视频（无违规）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908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~1-2min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5029200" cy="502920"/>
          </a:xfrm>
          <a:prstGeom prst="rect">
            <a:avLst/>
          </a:prstGeom>
          <a:solidFill>
            <a:srgbClr val="2F334D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30s 视频（首帧违规短路）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9080" y="5029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ECE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~15s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solidFill>
            <a:srgbClr val="24283B"/>
          </a:solidFill>
          <a:ln w="12700">
            <a:solidFill>
              <a:srgbClr val="3B4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成本（us-east-1）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Rekognition ×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2124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$0.002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Haiku 快筛层 ×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2124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$0.003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决策（30%）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2124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$0.002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Nova Pro（20-30%）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21240" y="4023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$0.003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 + Memory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21240" y="4480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&lt;$0.001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46520" y="4937760"/>
            <a:ext cx="5029200" cy="45720"/>
          </a:xfrm>
          <a:prstGeom prst="rect">
            <a:avLst/>
          </a:prstGeom>
          <a:solidFill>
            <a:srgbClr val="E0AF68"/>
          </a:solidFill>
          <a:ln w="12700">
            <a:solidFill>
              <a:srgbClr val="E0AF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074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A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期望总计（per image）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921240" y="5029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AF6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~$0.011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4652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比「全走 Nova + Sonnet」省约 50%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Strands Agents × Amazon Bedrock AgentCore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3657600"/>
            <a:ext cx="8229600" cy="8229600"/>
          </a:xfrm>
          <a:prstGeom prst="ellipse">
            <a:avLst/>
          </a:prstGeom>
          <a:solidFill>
            <a:srgbClr val="BB9AF7">
              <a:alpha val="6000"/>
            </a:srgbClr>
          </a:solidFill>
          <a:ln w="12700">
            <a:solidFill>
              <a:srgbClr val="BB9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从「规则引擎」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AA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到「智能审核大脑」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3246120"/>
            <a:ext cx="3200400" cy="36576"/>
          </a:xfrm>
          <a:prstGeom prst="rect">
            <a:avLst/>
          </a:prstGeom>
          <a:solidFill>
            <a:srgbClr val="9ECE6A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ECE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自编排  ·  大模型自解释  ·  记忆自进化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不仅告诉运营</a:t>
            </a:r>
            <a:pPr indent="0" marL="0">
              <a:buNone/>
            </a:pPr>
            <a:r>
              <a:rPr lang="en-US" sz="22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pPr indent="0" marL="0">
              <a:buNone/>
            </a:pPr>
            <a:r>
              <a:rPr lang="en-US" sz="2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，更解释</a:t>
            </a:r>
            <a:pPr indent="0" marL="0">
              <a:buNone/>
            </a:pPr>
            <a:r>
              <a:rPr lang="en-US" sz="22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</a:t>
            </a:r>
            <a:pPr indent="0" marL="0">
              <a:buNone/>
            </a:pPr>
            <a:r>
              <a:rPr lang="en-US" sz="2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不仅执行</a:t>
            </a:r>
            <a:pPr indent="0" marL="0">
              <a:buNone/>
            </a:pPr>
            <a:r>
              <a:rPr lang="en-US" sz="22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</a:t>
            </a:r>
            <a:pPr indent="0" marL="0">
              <a:buNone/>
            </a:pPr>
            <a:r>
              <a:rPr lang="en-US" sz="2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，更随业务</a:t>
            </a:r>
            <a:pPr indent="0" marL="0">
              <a:buNone/>
            </a:pPr>
            <a:r>
              <a:rPr lang="en-US" sz="2200" b="1" dirty="0">
                <a:solidFill>
                  <a:srgbClr val="E0A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迭代</a:t>
            </a:r>
            <a:pPr indent="0" marL="0">
              <a:buNone/>
            </a:pPr>
            <a:r>
              <a:rPr lang="en-US" sz="2200" dirty="0">
                <a:solidFill>
                  <a:srgbClr val="A9B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2A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Strands Agents × Amazon Bedrock AgentCore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UGC Moderation Agent — Customer Demo</dc:title>
  <dc:subject>PptxGenJS Presentation</dc:subject>
  <dc:creator>Hugo</dc:creator>
  <cp:lastModifiedBy>Hugo</cp:lastModifiedBy>
  <cp:revision>1</cp:revision>
  <dcterms:created xsi:type="dcterms:W3CDTF">2026-05-14T10:22:33Z</dcterms:created>
  <dcterms:modified xsi:type="dcterms:W3CDTF">2026-05-14T10:22:33Z</dcterms:modified>
</cp:coreProperties>
</file>